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notesMasterIdLst>
    <p:notesMasterId r:id="rId14"/>
  </p:notesMasterIdLst>
  <p:sldIdLst>
    <p:sldId id="256" r:id="rId2"/>
    <p:sldId id="270" r:id="rId3"/>
    <p:sldId id="258" r:id="rId4"/>
    <p:sldId id="259" r:id="rId5"/>
    <p:sldId id="271" r:id="rId6"/>
    <p:sldId id="272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F2F"/>
    <a:srgbClr val="D3102E"/>
    <a:srgbClr val="3C648C"/>
    <a:srgbClr val="4979A9"/>
    <a:srgbClr val="6490BC"/>
    <a:srgbClr val="111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8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D1ED1-6633-49F0-804B-0289B75C406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29298-F55B-4878-AB16-8763EAE1E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Report executive summary lines 81-110; Fortinet CVE-2024-55591 and CISA KEV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18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Report section 3.1, lines 499-624; The Hacker News dwell-time reference in report lines 240-247.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74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Report sections 2.1 and 2.2, lines 369-482.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8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8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7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8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1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62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4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29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6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9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69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7535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384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65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27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03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8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61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58368" y="960120"/>
            <a:ext cx="128016" cy="3291840"/>
          </a:xfrm>
          <a:prstGeom prst="rect">
            <a:avLst/>
          </a:prstGeom>
          <a:solidFill>
            <a:srgbClr val="D32F2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3724" y="363960"/>
            <a:ext cx="33209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OmniRoute Logistics</a:t>
            </a:r>
            <a:endParaRPr sz="24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51662" y="2922588"/>
            <a:ext cx="54010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Building resilience before intrusion becomes disruption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160520"/>
            <a:ext cx="1783080" cy="914400"/>
          </a:xfrm>
          <a:prstGeom prst="roundRect">
            <a:avLst/>
          </a:prstGeom>
          <a:noFill/>
          <a:ln w="12700">
            <a:solidFill>
              <a:srgbClr val="E2E8F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42</a:t>
            </a:r>
          </a:p>
          <a:p>
            <a:pPr algn="ctr"/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ountries</a:t>
            </a:r>
            <a:endParaRPr sz="12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971800" y="4160520"/>
            <a:ext cx="2057400" cy="914400"/>
          </a:xfrm>
          <a:prstGeom prst="roundRect">
            <a:avLst/>
          </a:prstGeom>
          <a:noFill/>
          <a:ln w="12700">
            <a:solidFill>
              <a:srgbClr val="E2E8F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 dirty="0">
                <a:solidFill>
                  <a:schemeClr val="tx1">
                    <a:lumMod val="85000"/>
                  </a:schemeClr>
                </a:solidFill>
              </a:rPr>
              <a:t>1,800+</a:t>
            </a:r>
          </a:p>
          <a:p>
            <a:pPr algn="ctr"/>
            <a:r>
              <a:rPr lang="en-US" sz="1400" b="1" dirty="0">
                <a:solidFill>
                  <a:schemeClr val="tx1">
                    <a:lumMod val="85000"/>
                  </a:schemeClr>
                </a:solidFill>
              </a:rPr>
              <a:t>E</a:t>
            </a:r>
            <a:r>
              <a:rPr sz="1400" b="1" dirty="0">
                <a:solidFill>
                  <a:schemeClr val="tx1">
                    <a:lumMod val="85000"/>
                  </a:schemeClr>
                </a:solidFill>
              </a:rPr>
              <a:t>nterprise </a:t>
            </a:r>
            <a:r>
              <a:rPr lang="en-US" sz="1400" b="1" dirty="0">
                <a:solidFill>
                  <a:schemeClr val="tx1">
                    <a:lumMod val="85000"/>
                  </a:schemeClr>
                </a:solidFill>
              </a:rPr>
              <a:t>C</a:t>
            </a:r>
            <a:r>
              <a:rPr sz="1400" b="1" dirty="0">
                <a:solidFill>
                  <a:schemeClr val="tx1">
                    <a:lumMod val="85000"/>
                  </a:schemeClr>
                </a:solidFill>
              </a:rPr>
              <a:t>lients</a:t>
            </a:r>
            <a:endParaRPr sz="12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212080" y="4160520"/>
            <a:ext cx="2148840" cy="914400"/>
          </a:xfrm>
          <a:prstGeom prst="roundRect">
            <a:avLst/>
          </a:prstGeom>
          <a:noFill/>
          <a:ln w="12700">
            <a:solidFill>
              <a:srgbClr val="E2E8F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 dirty="0">
                <a:solidFill>
                  <a:schemeClr val="tx1">
                    <a:lumMod val="85000"/>
                  </a:schemeClr>
                </a:solidFill>
              </a:rPr>
              <a:t>600k+</a:t>
            </a:r>
          </a:p>
          <a:p>
            <a:pPr algn="ctr"/>
            <a:r>
              <a:rPr lang="en-US" sz="1200" b="1" dirty="0">
                <a:solidFill>
                  <a:schemeClr val="tx1">
                    <a:lumMod val="85000"/>
                  </a:schemeClr>
                </a:solidFill>
              </a:rPr>
              <a:t>S</a:t>
            </a:r>
            <a:r>
              <a:rPr sz="1200" b="1" dirty="0">
                <a:solidFill>
                  <a:schemeClr val="tx1">
                    <a:lumMod val="85000"/>
                  </a:schemeClr>
                </a:solidFill>
              </a:rPr>
              <a:t>hipment </a:t>
            </a:r>
            <a:r>
              <a:rPr lang="en-US" sz="1200" b="1" dirty="0">
                <a:solidFill>
                  <a:schemeClr val="tx1">
                    <a:lumMod val="85000"/>
                  </a:schemeClr>
                </a:solidFill>
              </a:rPr>
              <a:t>R</a:t>
            </a:r>
            <a:r>
              <a:rPr sz="1200" b="1" dirty="0">
                <a:solidFill>
                  <a:schemeClr val="tx1">
                    <a:lumMod val="85000"/>
                  </a:schemeClr>
                </a:solidFill>
              </a:rPr>
              <a:t>ecords / </a:t>
            </a:r>
            <a:r>
              <a:rPr lang="en-US" sz="1200" b="1" dirty="0">
                <a:solidFill>
                  <a:schemeClr val="tx1">
                    <a:lumMod val="85000"/>
                  </a:schemeClr>
                </a:solidFill>
              </a:rPr>
              <a:t>D</a:t>
            </a:r>
            <a:r>
              <a:rPr sz="1200" b="1" dirty="0">
                <a:solidFill>
                  <a:schemeClr val="tx1">
                    <a:lumMod val="85000"/>
                  </a:schemeClr>
                </a:solidFill>
              </a:rPr>
              <a:t>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623560"/>
            <a:ext cx="10881360" cy="658368"/>
          </a:xfrm>
          <a:prstGeom prst="roundRect">
            <a:avLst/>
          </a:prstGeom>
          <a:solidFill>
            <a:srgbClr val="D32F2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l"/>
            <a:r>
              <a:rPr lang="en-US" sz="1400" b="1" dirty="0">
                <a:solidFill>
                  <a:schemeClr val="tx1"/>
                </a:solidFill>
              </a:rPr>
              <a:t>Squad 4 </a:t>
            </a:r>
            <a:r>
              <a:rPr lang="en-US" sz="1200" b="1" dirty="0">
                <a:solidFill>
                  <a:schemeClr val="tx1">
                    <a:lumMod val="85000"/>
                  </a:schemeClr>
                </a:solidFill>
              </a:rPr>
              <a:t>:   </a:t>
            </a:r>
            <a:r>
              <a:rPr lang="en-US" sz="1400" dirty="0">
                <a:solidFill>
                  <a:schemeClr val="tx1">
                    <a:lumMod val="85000"/>
                  </a:schemeClr>
                </a:solidFill>
              </a:rPr>
              <a:t>Grace,   Tiffany,  David,   </a:t>
            </a:r>
            <a:r>
              <a:rPr lang="en-US" sz="1400" dirty="0" err="1">
                <a:solidFill>
                  <a:schemeClr val="tx1">
                    <a:lumMod val="85000"/>
                  </a:schemeClr>
                </a:solidFill>
              </a:rPr>
              <a:t>Benard</a:t>
            </a:r>
            <a:r>
              <a:rPr lang="en-US" sz="1400" dirty="0">
                <a:solidFill>
                  <a:schemeClr val="tx1">
                    <a:lumMod val="85000"/>
                  </a:schemeClr>
                </a:solidFill>
              </a:rPr>
              <a:t>,   Andrew,   </a:t>
            </a:r>
            <a:r>
              <a:rPr lang="en-US" sz="1400" dirty="0" err="1">
                <a:solidFill>
                  <a:schemeClr val="tx1">
                    <a:lumMod val="85000"/>
                  </a:schemeClr>
                </a:solidFill>
              </a:rPr>
              <a:t>Gatana</a:t>
            </a:r>
            <a:r>
              <a:rPr lang="en-US" sz="1400" dirty="0">
                <a:solidFill>
                  <a:schemeClr val="tx1">
                    <a:lumMod val="85000"/>
                  </a:schemeClr>
                </a:solidFill>
              </a:rPr>
              <a:t>,   Joseph,   Denis,   </a:t>
            </a:r>
            <a:r>
              <a:rPr lang="en-US" sz="1400" dirty="0" err="1">
                <a:solidFill>
                  <a:schemeClr val="tx1">
                    <a:lumMod val="85000"/>
                  </a:schemeClr>
                </a:solidFill>
              </a:rPr>
              <a:t>Arcel</a:t>
            </a:r>
            <a:r>
              <a:rPr sz="1400" dirty="0">
                <a:solidFill>
                  <a:schemeClr val="tx1">
                    <a:lumMod val="85000"/>
                  </a:schemeClr>
                </a:solidFill>
              </a:rPr>
              <a:t>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19088"/>
            <a:ext cx="3627916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9952" y="1066813"/>
            <a:ext cx="700063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 Preparedness</a:t>
            </a:r>
            <a:endParaRPr sz="5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36366" y="2024677"/>
            <a:ext cx="54665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Gentlemen </a:t>
            </a:r>
            <a:r>
              <a:rPr lang="en-US"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ansomware </a:t>
            </a:r>
            <a:r>
              <a:rPr lang="en-US"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hreat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882" y="-15253"/>
            <a:ext cx="3267858" cy="5806440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48127CF2-EEBE-AE92-6BD0-8C71C15624AE}"/>
              </a:ext>
            </a:extLst>
          </p:cNvPr>
          <p:cNvSpPr/>
          <p:nvPr/>
        </p:nvSpPr>
        <p:spPr>
          <a:xfrm>
            <a:off x="1251662" y="802765"/>
            <a:ext cx="141732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48640" y="38404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ptos Display" pitchFamily="34" charset="-122"/>
                <a:cs typeface="Aptos Display" pitchFamily="34" charset="-120"/>
              </a:rPr>
              <a:t>Threat in 60 seconds</a:t>
            </a:r>
            <a:endParaRPr lang="en-US" sz="2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850392"/>
            <a:ext cx="141732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38" y="1213034"/>
            <a:ext cx="10022946" cy="788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Gentlemen: A financially motivated RaaS group that targets Fortinet systems and enterprise credentials, then uses that access as leverage for extortion.</a:t>
            </a:r>
          </a:p>
        </p:txBody>
      </p:sp>
      <p:sp>
        <p:nvSpPr>
          <p:cNvPr id="9" name="Shape 7"/>
          <p:cNvSpPr/>
          <p:nvPr/>
        </p:nvSpPr>
        <p:spPr>
          <a:xfrm>
            <a:off x="2990463" y="3549392"/>
            <a:ext cx="777240" cy="0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761618" y="2292280"/>
            <a:ext cx="806166" cy="74980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0343" y="261455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07383" y="317151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Entry point</a:t>
            </a:r>
            <a:endParaRPr lang="en-US" sz="20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24503" y="3518982"/>
            <a:ext cx="21945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Fortinet edge or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stolen VPN credentials</a:t>
            </a:r>
          </a:p>
        </p:txBody>
      </p:sp>
      <p:sp>
        <p:nvSpPr>
          <p:cNvPr id="14" name="Shape 12"/>
          <p:cNvSpPr/>
          <p:nvPr/>
        </p:nvSpPr>
        <p:spPr>
          <a:xfrm>
            <a:off x="5642223" y="3533530"/>
            <a:ext cx="777240" cy="0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41551" y="2292280"/>
            <a:ext cx="857481" cy="818945"/>
          </a:xfrm>
          <a:prstGeom prst="ellipse">
            <a:avLst/>
          </a:prstGeom>
          <a:solidFill>
            <a:srgbClr val="D32F2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2103" y="261455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</a:p>
        </p:txBody>
      </p:sp>
      <p:sp>
        <p:nvSpPr>
          <p:cNvPr id="17" name="Text 15"/>
          <p:cNvSpPr/>
          <p:nvPr/>
        </p:nvSpPr>
        <p:spPr>
          <a:xfrm>
            <a:off x="3859143" y="317151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access</a:t>
            </a:r>
            <a:endParaRPr lang="en-US" sz="20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76263" y="3518982"/>
            <a:ext cx="21945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Identity abuse and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lateral movement</a:t>
            </a:r>
          </a:p>
        </p:txBody>
      </p:sp>
      <p:sp>
        <p:nvSpPr>
          <p:cNvPr id="19" name="Shape 17"/>
          <p:cNvSpPr/>
          <p:nvPr/>
        </p:nvSpPr>
        <p:spPr>
          <a:xfrm>
            <a:off x="8293983" y="3533530"/>
            <a:ext cx="777240" cy="0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52733" y="2292280"/>
            <a:ext cx="749808" cy="74980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863" y="261455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10903" y="317151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chain</a:t>
            </a:r>
            <a:endParaRPr lang="en-US" sz="20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28023" y="3518982"/>
            <a:ext cx="21945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theft, recovery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disruption, encryption</a:t>
            </a:r>
          </a:p>
        </p:txBody>
      </p:sp>
      <p:sp>
        <p:nvSpPr>
          <p:cNvPr id="33" name="Shape 18"/>
          <p:cNvSpPr/>
          <p:nvPr/>
        </p:nvSpPr>
        <p:spPr>
          <a:xfrm>
            <a:off x="9735813" y="2304717"/>
            <a:ext cx="749808" cy="74980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62663" y="317151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effect</a:t>
            </a:r>
            <a:endParaRPr lang="en-US" sz="20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 23"/>
          <p:cNvSpPr/>
          <p:nvPr/>
        </p:nvSpPr>
        <p:spPr>
          <a:xfrm>
            <a:off x="9985623" y="261455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 25"/>
          <p:cNvSpPr/>
          <p:nvPr/>
        </p:nvSpPr>
        <p:spPr>
          <a:xfrm>
            <a:off x="8979783" y="3518982"/>
            <a:ext cx="21945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Operational outage and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extortion pressure</a:t>
            </a:r>
          </a:p>
        </p:txBody>
      </p:sp>
      <p:sp>
        <p:nvSpPr>
          <p:cNvPr id="28" name="Text 26"/>
          <p:cNvSpPr/>
          <p:nvPr/>
        </p:nvSpPr>
        <p:spPr>
          <a:xfrm>
            <a:off x="1143000" y="4514751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n w="0"/>
                <a:solidFill>
                  <a:srgbClr val="D32F2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Single most urgent action</a:t>
            </a:r>
          </a:p>
        </p:txBody>
      </p:sp>
      <p:sp>
        <p:nvSpPr>
          <p:cNvPr id="29" name="Text 27"/>
          <p:cNvSpPr/>
          <p:nvPr/>
        </p:nvSpPr>
        <p:spPr>
          <a:xfrm>
            <a:off x="749029" y="4901738"/>
            <a:ext cx="10425313" cy="530352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2CAD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Approve an immediate Fortinet exposure review, credential reset, and targeted threat hunt.</a:t>
            </a:r>
            <a:endParaRPr lang="en-US" sz="18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Text 28"/>
          <p:cNvSpPr/>
          <p:nvPr/>
        </p:nvSpPr>
        <p:spPr>
          <a:xfrm>
            <a:off x="1303506" y="5693177"/>
            <a:ext cx="9345543" cy="347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now</a:t>
            </a:r>
            <a:r>
              <a:rPr lang="en-US" sz="1600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Patching closes the gap, but it cannot confirm whether access was already gained.</a:t>
            </a:r>
          </a:p>
        </p:txBody>
      </p:sp>
      <p:sp>
        <p:nvSpPr>
          <p:cNvPr id="32" name="Text 30"/>
          <p:cNvSpPr/>
          <p:nvPr/>
        </p:nvSpPr>
        <p:spPr>
          <a:xfrm>
            <a:off x="11567160" y="65105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80" dirty="0"/>
          </a:p>
        </p:txBody>
      </p:sp>
      <p:sp>
        <p:nvSpPr>
          <p:cNvPr id="41" name="Rounded Rectangle 40"/>
          <p:cNvSpPr/>
          <p:nvPr/>
        </p:nvSpPr>
        <p:spPr>
          <a:xfrm>
            <a:off x="10372725" y="325755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 </a:t>
            </a:r>
            <a:r>
              <a:rPr lang="en-US"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GLANCE</a:t>
            </a:r>
            <a:endParaRPr sz="10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</p:spTree>
    <p:extLst>
      <p:ext uri="{BB962C8B-B14F-4D97-AF65-F5344CB8AC3E}">
        <p14:creationId xmlns:p14="http://schemas.microsoft.com/office/powerpoint/2010/main" val="136997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47472"/>
            <a:ext cx="2714205" cy="6386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Adversary profile</a:t>
            </a:r>
          </a:p>
          <a:p>
            <a:pPr>
              <a:defRPr sz="1150">
                <a:solidFill>
                  <a:srgbClr val="6B7280"/>
                </a:solidFill>
              </a:defRPr>
            </a:pPr>
            <a:endParaRPr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2801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411480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THREAT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4422" y="1865298"/>
            <a:ext cx="3679060" cy="2518107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2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 Breach &amp;
Organizational Disruption</a:t>
            </a:r>
            <a:endParaRPr lang="en-US" sz="22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sz="1400" dirty="0">
              <a:solidFill>
                <a:srgbClr val="1F2937"/>
              </a:solidFill>
            </a:endParaRPr>
          </a:p>
          <a:p>
            <a:pPr algn="ctr">
              <a:lnSpc>
                <a:spcPct val="150000"/>
              </a:lnSpc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Financially motivated</a:t>
            </a:r>
            <a:b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Focused on operational disruption</a:t>
            </a:r>
            <a:endParaRPr sz="15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" y="1273001"/>
            <a:ext cx="3017520" cy="1713390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endParaRPr lang="en-US"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Financial motiv</a:t>
            </a: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endParaRPr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alt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Ransomware-as-a-Service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alt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theft + encryption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alt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Extortion-driven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endParaRPr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3886199"/>
            <a:ext cx="3017520" cy="1533525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</a:t>
            </a: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</a:t>
            </a:r>
          </a:p>
          <a:p>
            <a:pPr algn="ctr"/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Scheduled tasks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Registry Run keys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 accounts</a:t>
            </a:r>
            <a:endParaRPr sz="15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0" y="3789045"/>
            <a:ext cx="3017520" cy="1600200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Stealth</a:t>
            </a: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Control</a:t>
            </a:r>
            <a:endParaRPr sz="16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endParaRPr lang="en-US" sz="115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EDR impairment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Logging changes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PowerShell / WMI / RDP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endParaRPr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868705" y="2088261"/>
            <a:ext cx="351065" cy="228600"/>
          </a:xfrm>
          <a:prstGeom prst="line">
            <a:avLst/>
          </a:prstGeom>
          <a:ln w="1524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928134" y="2195703"/>
            <a:ext cx="282103" cy="226484"/>
          </a:xfrm>
          <a:prstGeom prst="line">
            <a:avLst/>
          </a:prstGeom>
          <a:ln w="1524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840480" y="3789045"/>
            <a:ext cx="379290" cy="283464"/>
          </a:xfrm>
          <a:prstGeom prst="line">
            <a:avLst/>
          </a:prstGeom>
          <a:ln w="1524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7913482" y="4143983"/>
            <a:ext cx="296755" cy="239423"/>
          </a:xfrm>
          <a:prstGeom prst="line">
            <a:avLst/>
          </a:prstGeom>
          <a:ln w="1524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645430"/>
            <a:ext cx="10424160" cy="572721"/>
          </a:xfrm>
          <a:prstGeom prst="roundRect">
            <a:avLst/>
          </a:prstGeom>
          <a:solidFill>
            <a:schemeClr val="accent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5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group does not just get in. It stays, steals data, weakens security, and makes recovery harder before ransomware is deployed.</a:t>
            </a:r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0" y="1273001"/>
            <a:ext cx="3017520" cy="1574974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Operational</a:t>
            </a: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Impact</a:t>
            </a:r>
            <a:endParaRPr sz="16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endParaRPr lang="en-US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Recovery disruption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Enterprise encryption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50">
                <a:solidFill>
                  <a:srgbClr val="1F2937"/>
                </a:solidFill>
              </a:defRPr>
            </a:pPr>
            <a:r>
              <a:rPr lang="en-US" sz="15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interruption</a:t>
            </a:r>
            <a:endParaRPr sz="15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47472"/>
            <a:ext cx="4253087" cy="6386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</a:t>
            </a:r>
            <a:r>
              <a:rPr sz="2400" b="1" dirty="0" err="1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OmniRoute</a:t>
            </a:r>
            <a:r>
              <a:rPr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exposed</a:t>
            </a:r>
          </a:p>
          <a:p>
            <a:pPr>
              <a:defRPr sz="1150">
                <a:solidFill>
                  <a:srgbClr val="6B7280"/>
                </a:solidFill>
              </a:defRPr>
            </a:pPr>
            <a:endParaRPr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2801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411480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</a:t>
            </a:r>
            <a:r>
              <a:rPr lang="en-US"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EXPOSURE</a:t>
            </a:r>
            <a:endParaRPr sz="10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Oval 7"/>
          <p:cNvSpPr/>
          <p:nvPr/>
        </p:nvSpPr>
        <p:spPr>
          <a:xfrm>
            <a:off x="1460904" y="2296160"/>
            <a:ext cx="457200" cy="45720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56280"/>
            <a:ext cx="2011680" cy="2286000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Fortinet </a:t>
            </a: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dge</a:t>
            </a:r>
            <a:endParaRPr lang="en-US"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400" b="1" dirty="0" err="1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FortiGate</a:t>
            </a:r>
            <a:r>
              <a:rPr lang="en-US" sz="1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en-US" sz="1400" b="1" dirty="0" err="1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FortiProxy</a:t>
            </a:r>
            <a:r>
              <a:rPr lang="en-US" sz="1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across the global WAN</a:t>
            </a:r>
            <a:b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known entry path for The Gentlemen.</a:t>
            </a:r>
            <a:endParaRPr sz="12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850640"/>
            <a:ext cx="274320" cy="0"/>
          </a:xfrm>
          <a:prstGeom prst="line">
            <a:avLst/>
          </a:prstGeom>
          <a:ln w="1524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56632" y="2296160"/>
            <a:ext cx="457200" cy="45720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756280"/>
            <a:ext cx="2011680" cy="2286000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Identity </a:t>
            </a: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ayer</a:t>
            </a:r>
            <a:endParaRPr lang="en-US"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VPN, domain and privileged accounts</a:t>
            </a:r>
          </a:p>
          <a:p>
            <a:pPr algn="ctr">
              <a:spcAft>
                <a:spcPts val="200"/>
              </a:spcAft>
            </a:pPr>
            <a:b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Stolen credentials can open the way to deeper access.</a:t>
            </a:r>
            <a:endParaRPr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3850640"/>
            <a:ext cx="274320" cy="0"/>
          </a:xfrm>
          <a:prstGeom prst="line">
            <a:avLst/>
          </a:prstGeom>
          <a:ln w="1524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032904" y="2296160"/>
            <a:ext cx="457200" cy="45720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756280"/>
            <a:ext cx="2011680" cy="2286000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 Systems</a:t>
            </a:r>
          </a:p>
          <a:p>
            <a:pPr algn="ctr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AD, GPO, servers and virtualization</a:t>
            </a:r>
          </a:p>
          <a:p>
            <a:pPr algn="ctr">
              <a:spcAft>
                <a:spcPts val="200"/>
              </a:spcAft>
            </a:pPr>
            <a:b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Connected infrastructure gives an attacker room to move.</a:t>
            </a:r>
            <a:endParaRPr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269480" y="3850640"/>
            <a:ext cx="274320" cy="0"/>
          </a:xfrm>
          <a:prstGeom prst="line">
            <a:avLst/>
          </a:prstGeom>
          <a:ln w="1524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338357" y="2296160"/>
            <a:ext cx="457200" cy="45720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756280"/>
            <a:ext cx="2011680" cy="2286000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Logistics Data</a:t>
            </a:r>
          </a:p>
          <a:p>
            <a:pPr algn="ctr">
              <a:spcAft>
                <a:spcPts val="200"/>
              </a:spcAft>
            </a:pPr>
            <a:endParaRPr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Cargo, routes, customs and financial records</a:t>
            </a:r>
          </a:p>
          <a:p>
            <a:pPr algn="ctr">
              <a:spcAft>
                <a:spcPts val="200"/>
              </a:spcAft>
            </a:pPr>
            <a:b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Sensitive operational data gives attackers more leverage</a:t>
            </a:r>
            <a:endParaRPr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9555480" y="3850640"/>
            <a:ext cx="274320" cy="0"/>
          </a:xfrm>
          <a:prstGeom prst="line">
            <a:avLst/>
          </a:prstGeom>
          <a:ln w="15240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604904" y="2296160"/>
            <a:ext cx="457200" cy="457200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756280"/>
            <a:ext cx="2011680" cy="2286000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</a:t>
            </a: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</a:t>
            </a:r>
          </a:p>
          <a:p>
            <a:pPr algn="ctr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Healthcare, government and enterprise customers</a:t>
            </a:r>
          </a:p>
          <a:p>
            <a:pPr algn="ctr">
              <a:spcAft>
                <a:spcPts val="200"/>
              </a:spcAft>
            </a:pPr>
            <a:b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Disruption can spill into customer supply chains.</a:t>
            </a:r>
            <a:endParaRPr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5321807"/>
            <a:ext cx="10515600" cy="817881"/>
          </a:xfrm>
          <a:prstGeom prst="roundRect">
            <a:avLst/>
          </a:prstGeom>
          <a:solidFill>
            <a:schemeClr val="accent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it matters</a:t>
            </a:r>
            <a:endParaRPr b="1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local compromise can quickly become a multi-region operational problem.</a:t>
            </a:r>
            <a:endParaRPr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1251712"/>
            <a:ext cx="98023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compromise can quickly move beyond the edge and affect the wider logistics operation.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8404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ptos Display" pitchFamily="34" charset="-122"/>
                <a:cs typeface="Aptos Display" pitchFamily="34" charset="-120"/>
              </a:rPr>
              <a:t>Expected attack lifecycle</a:t>
            </a:r>
            <a:endParaRPr lang="en-US" sz="2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850392"/>
            <a:ext cx="141732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21840" y="3012440"/>
            <a:ext cx="357632" cy="0"/>
          </a:xfrm>
          <a:prstGeom prst="line">
            <a:avLst/>
          </a:prstGeom>
          <a:noFill/>
          <a:ln w="57150">
            <a:solidFill>
              <a:schemeClr val="tx1">
                <a:lumMod val="95000"/>
              </a:schemeClr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2920" y="2199640"/>
            <a:ext cx="1417320" cy="310896"/>
          </a:xfrm>
          <a:prstGeom prst="rect">
            <a:avLst/>
          </a:prstGeom>
          <a:noFill/>
          <a:ln w="28575">
            <a:solidFill>
              <a:srgbClr val="D7DD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Recon</a:t>
            </a:r>
            <a:endParaRPr lang="en-US" sz="16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75844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 exposed Fortinet systems and map the environment</a:t>
            </a:r>
          </a:p>
        </p:txBody>
      </p:sp>
      <p:sp>
        <p:nvSpPr>
          <p:cNvPr id="12" name="Text 10"/>
          <p:cNvSpPr/>
          <p:nvPr/>
        </p:nvSpPr>
        <p:spPr>
          <a:xfrm>
            <a:off x="2423160" y="2199640"/>
            <a:ext cx="1417320" cy="310896"/>
          </a:xfrm>
          <a:prstGeom prst="rect">
            <a:avLst/>
          </a:prstGeom>
          <a:noFill/>
          <a:ln w="28575">
            <a:solidFill>
              <a:srgbClr val="D7DD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Deliver</a:t>
            </a:r>
            <a:endParaRPr lang="en-US" sz="16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77440" y="275844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algn="ctr"/>
            <a:r>
              <a: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Exploit the edge or use stolen credentials</a:t>
            </a:r>
          </a:p>
        </p:txBody>
      </p:sp>
      <p:sp>
        <p:nvSpPr>
          <p:cNvPr id="15" name="Text 13"/>
          <p:cNvSpPr/>
          <p:nvPr/>
        </p:nvSpPr>
        <p:spPr>
          <a:xfrm>
            <a:off x="4334256" y="2199640"/>
            <a:ext cx="1417320" cy="310896"/>
          </a:xfrm>
          <a:prstGeom prst="rect">
            <a:avLst/>
          </a:prstGeom>
          <a:noFill/>
          <a:ln w="28575">
            <a:solidFill>
              <a:srgbClr val="D7DD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Exploit</a:t>
            </a:r>
            <a:endParaRPr lang="en-US" sz="16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14"/>
          <p:cNvSpPr/>
          <p:nvPr/>
        </p:nvSpPr>
        <p:spPr>
          <a:xfrm>
            <a:off x="4297680" y="275844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Gain privileged access</a:t>
            </a:r>
          </a:p>
        </p:txBody>
      </p:sp>
      <p:sp>
        <p:nvSpPr>
          <p:cNvPr id="18" name="Text 16"/>
          <p:cNvSpPr/>
          <p:nvPr/>
        </p:nvSpPr>
        <p:spPr>
          <a:xfrm>
            <a:off x="6263640" y="2199640"/>
            <a:ext cx="1417320" cy="310896"/>
          </a:xfrm>
          <a:prstGeom prst="rect">
            <a:avLst/>
          </a:prstGeom>
          <a:noFill/>
          <a:ln w="28575">
            <a:solidFill>
              <a:srgbClr val="D7DD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</a:t>
            </a:r>
            <a:endParaRPr lang="en-US" sz="16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0" y="275844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algn="ctr"/>
            <a:r>
              <a: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Move through RDP, WMI and PowerShell</a:t>
            </a:r>
          </a:p>
        </p:txBody>
      </p:sp>
      <p:sp>
        <p:nvSpPr>
          <p:cNvPr id="21" name="Text 19"/>
          <p:cNvSpPr/>
          <p:nvPr/>
        </p:nvSpPr>
        <p:spPr>
          <a:xfrm>
            <a:off x="8183880" y="2199640"/>
            <a:ext cx="1417320" cy="310896"/>
          </a:xfrm>
          <a:prstGeom prst="rect">
            <a:avLst/>
          </a:prstGeom>
          <a:noFill/>
          <a:ln w="28575">
            <a:solidFill>
              <a:srgbClr val="D7DD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</a:t>
            </a:r>
            <a:endParaRPr lang="en-US" sz="16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38160" y="275844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Steal data, weaken defenses and deploy ransomware</a:t>
            </a:r>
          </a:p>
        </p:txBody>
      </p:sp>
      <p:sp>
        <p:nvSpPr>
          <p:cNvPr id="23" name="Text 21"/>
          <p:cNvSpPr/>
          <p:nvPr/>
        </p:nvSpPr>
        <p:spPr>
          <a:xfrm>
            <a:off x="10104120" y="2199640"/>
            <a:ext cx="1417320" cy="310896"/>
          </a:xfrm>
          <a:prstGeom prst="rect">
            <a:avLst/>
          </a:prstGeom>
          <a:noFill/>
          <a:ln w="28575">
            <a:solidFill>
              <a:srgbClr val="D7DDE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Maintain</a:t>
            </a:r>
            <a:endParaRPr lang="en-US" sz="16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058400" y="2758440"/>
            <a:ext cx="1508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algn="ctr"/>
            <a:r>
              <a: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Keep access through tasks, Run keys and valid accounts</a:t>
            </a:r>
          </a:p>
        </p:txBody>
      </p:sp>
      <p:sp>
        <p:nvSpPr>
          <p:cNvPr id="25" name="Shape 23"/>
          <p:cNvSpPr/>
          <p:nvPr/>
        </p:nvSpPr>
        <p:spPr>
          <a:xfrm>
            <a:off x="868680" y="4132072"/>
            <a:ext cx="9966960" cy="0"/>
          </a:xfrm>
          <a:prstGeom prst="line">
            <a:avLst/>
          </a:prstGeom>
          <a:noFill/>
          <a:ln w="27940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1540" y="3693159"/>
            <a:ext cx="5298440" cy="353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Detection opportunities before encryption</a:t>
            </a:r>
          </a:p>
        </p:txBody>
      </p:sp>
      <p:sp>
        <p:nvSpPr>
          <p:cNvPr id="27" name="Shape 25"/>
          <p:cNvSpPr/>
          <p:nvPr/>
        </p:nvSpPr>
        <p:spPr>
          <a:xfrm>
            <a:off x="1261872" y="4132072"/>
            <a:ext cx="0" cy="38404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253" y="4563482"/>
            <a:ext cx="2275839" cy="313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 err="1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FortiGate</a:t>
            </a: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 </a:t>
            </a:r>
            <a:r>
              <a:rPr lang="en-US" sz="1400" b="1" dirty="0" err="1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FortiProxy</a:t>
            </a: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logs</a:t>
            </a:r>
          </a:p>
        </p:txBody>
      </p:sp>
      <p:sp>
        <p:nvSpPr>
          <p:cNvPr id="29" name="Shape 27"/>
          <p:cNvSpPr/>
          <p:nvPr/>
        </p:nvSpPr>
        <p:spPr>
          <a:xfrm>
            <a:off x="3273552" y="4175844"/>
            <a:ext cx="0" cy="39008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92984" y="4601547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Identity</a:t>
            </a: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17136" y="4132072"/>
            <a:ext cx="0" cy="38404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81703" y="4569259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Discovery</a:t>
            </a: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68976" y="4132072"/>
            <a:ext cx="0" cy="38404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53890" y="4546489"/>
            <a:ext cx="1371599" cy="260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Remote Admin</a:t>
            </a: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960944" y="4155468"/>
            <a:ext cx="0" cy="38404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8021" y="457200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GPO/EDR</a:t>
            </a: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722104" y="4132072"/>
            <a:ext cx="0" cy="384048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1431" y="4528256"/>
            <a:ext cx="1243583" cy="28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Tasks/Registry</a:t>
            </a: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 37"/>
          <p:cNvSpPr/>
          <p:nvPr/>
        </p:nvSpPr>
        <p:spPr>
          <a:xfrm>
            <a:off x="3511400" y="5048644"/>
            <a:ext cx="3946621" cy="4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this means for </a:t>
            </a:r>
            <a:r>
              <a:rPr lang="en-US" sz="2000" b="1" dirty="0" err="1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OmniRoute</a:t>
            </a:r>
            <a:endParaRPr lang="en-US" sz="20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567160" y="65105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80" dirty="0"/>
          </a:p>
        </p:txBody>
      </p:sp>
      <p:sp>
        <p:nvSpPr>
          <p:cNvPr id="43" name="Text 3"/>
          <p:cNvSpPr/>
          <p:nvPr/>
        </p:nvSpPr>
        <p:spPr>
          <a:xfrm>
            <a:off x="530352" y="1257808"/>
            <a:ext cx="650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attack creates several chances to detect and contain it before encryption.</a:t>
            </a:r>
          </a:p>
        </p:txBody>
      </p:sp>
      <p:sp>
        <p:nvSpPr>
          <p:cNvPr id="44" name="Shape 6"/>
          <p:cNvSpPr/>
          <p:nvPr/>
        </p:nvSpPr>
        <p:spPr>
          <a:xfrm>
            <a:off x="3891280" y="3012440"/>
            <a:ext cx="357632" cy="0"/>
          </a:xfrm>
          <a:prstGeom prst="line">
            <a:avLst/>
          </a:prstGeom>
          <a:noFill/>
          <a:ln w="57150">
            <a:solidFill>
              <a:schemeClr val="tx1">
                <a:lumMod val="95000"/>
              </a:schemeClr>
            </a:solidFill>
            <a:prstDash val="solid"/>
            <a:tailEnd type="triangle"/>
          </a:ln>
        </p:spPr>
      </p:sp>
      <p:sp>
        <p:nvSpPr>
          <p:cNvPr id="45" name="Shape 6"/>
          <p:cNvSpPr/>
          <p:nvPr/>
        </p:nvSpPr>
        <p:spPr>
          <a:xfrm>
            <a:off x="5774768" y="3012440"/>
            <a:ext cx="357632" cy="0"/>
          </a:xfrm>
          <a:prstGeom prst="line">
            <a:avLst/>
          </a:prstGeom>
          <a:noFill/>
          <a:ln w="57150">
            <a:solidFill>
              <a:schemeClr val="tx1">
                <a:lumMod val="95000"/>
              </a:schemeClr>
            </a:solidFill>
            <a:prstDash val="solid"/>
            <a:tailEnd type="triangle"/>
          </a:ln>
        </p:spPr>
      </p:sp>
      <p:sp>
        <p:nvSpPr>
          <p:cNvPr id="46" name="Shape 6"/>
          <p:cNvSpPr/>
          <p:nvPr/>
        </p:nvSpPr>
        <p:spPr>
          <a:xfrm>
            <a:off x="7782128" y="3012440"/>
            <a:ext cx="357632" cy="0"/>
          </a:xfrm>
          <a:prstGeom prst="line">
            <a:avLst/>
          </a:prstGeom>
          <a:noFill/>
          <a:ln w="57150">
            <a:solidFill>
              <a:schemeClr val="tx1">
                <a:lumMod val="95000"/>
              </a:schemeClr>
            </a:solidFill>
            <a:prstDash val="solid"/>
            <a:tailEnd type="triangle"/>
          </a:ln>
        </p:spPr>
      </p:sp>
      <p:sp>
        <p:nvSpPr>
          <p:cNvPr id="47" name="Shape 6"/>
          <p:cNvSpPr/>
          <p:nvPr/>
        </p:nvSpPr>
        <p:spPr>
          <a:xfrm>
            <a:off x="9712960" y="3012440"/>
            <a:ext cx="357632" cy="0"/>
          </a:xfrm>
          <a:prstGeom prst="line">
            <a:avLst/>
          </a:prstGeom>
          <a:noFill/>
          <a:ln w="57150">
            <a:solidFill>
              <a:schemeClr val="tx1">
                <a:lumMod val="95000"/>
              </a:schemeClr>
            </a:solidFill>
            <a:prstDash val="solid"/>
            <a:tailEnd type="triangle"/>
          </a:ln>
        </p:spPr>
      </p:sp>
      <p:sp>
        <p:nvSpPr>
          <p:cNvPr id="50" name="Rounded Rectangle 49"/>
          <p:cNvSpPr/>
          <p:nvPr/>
        </p:nvSpPr>
        <p:spPr>
          <a:xfrm>
            <a:off x="10483596" y="384048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ATTACK FLOW</a:t>
            </a:r>
            <a:endParaRPr sz="10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822960" y="5562656"/>
            <a:ext cx="10515600" cy="577032"/>
          </a:xfrm>
          <a:prstGeom prst="roundRect">
            <a:avLst/>
          </a:prstGeom>
          <a:solidFill>
            <a:schemeClr val="accent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attack can be spotted before encryption. Hunt early, not after ransomware appears. </a:t>
            </a:r>
            <a:endParaRPr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</p:spTree>
    <p:extLst>
      <p:ext uri="{BB962C8B-B14F-4D97-AF65-F5344CB8AC3E}">
        <p14:creationId xmlns:p14="http://schemas.microsoft.com/office/powerpoint/2010/main" val="1179392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8404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Consequence picture</a:t>
            </a:r>
          </a:p>
        </p:txBody>
      </p:sp>
      <p:sp>
        <p:nvSpPr>
          <p:cNvPr id="6" name="Shape 4"/>
          <p:cNvSpPr/>
          <p:nvPr/>
        </p:nvSpPr>
        <p:spPr>
          <a:xfrm>
            <a:off x="530352" y="850392"/>
            <a:ext cx="141732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53744"/>
            <a:ext cx="7188864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consequences matter most for </a:t>
            </a:r>
            <a:r>
              <a:rPr lang="en-US" sz="2400" dirty="0" err="1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OmniRoute</a:t>
            </a:r>
            <a:r>
              <a:rPr lang="en-US" sz="2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9" name="Text 7"/>
          <p:cNvSpPr/>
          <p:nvPr/>
        </p:nvSpPr>
        <p:spPr>
          <a:xfrm>
            <a:off x="685800" y="1931800"/>
            <a:ext cx="5074920" cy="600456"/>
          </a:xfrm>
          <a:prstGeom prst="rect">
            <a:avLst/>
          </a:prstGeom>
          <a:noFill/>
          <a:ln w="12700">
            <a:solidFill>
              <a:srgbClr val="D7DDE5"/>
            </a:solidFill>
          </a:ln>
        </p:spPr>
        <p:txBody>
          <a:bodyPr wrap="square" lIns="508" tIns="508" rIns="508" bIns="508"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ptos" pitchFamily="34" charset="-122"/>
                <a:cs typeface="Aptos" pitchFamily="34" charset="-120"/>
              </a:rPr>
              <a:t>Operational disruption</a:t>
            </a:r>
          </a:p>
        </p:txBody>
      </p:sp>
      <p:sp>
        <p:nvSpPr>
          <p:cNvPr id="10" name="Shape 8"/>
          <p:cNvSpPr/>
          <p:nvPr/>
        </p:nvSpPr>
        <p:spPr>
          <a:xfrm>
            <a:off x="685800" y="1931800"/>
            <a:ext cx="5074920" cy="64008"/>
          </a:xfrm>
          <a:prstGeom prst="rect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0184" y="2604392"/>
            <a:ext cx="4782312" cy="957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Shipment visibility, customs processing, warehouse operations and customer services could be disrupted across multiple regions.</a:t>
            </a:r>
          </a:p>
          <a:p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1931800"/>
            <a:ext cx="5074920" cy="563880"/>
          </a:xfrm>
          <a:prstGeom prst="rect">
            <a:avLst/>
          </a:prstGeom>
          <a:noFill/>
          <a:ln w="12700">
            <a:solidFill>
              <a:srgbClr val="D7DDE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Aptos" pitchFamily="34" charset="-122"/>
                <a:cs typeface="Aptos" pitchFamily="34" charset="-120"/>
              </a:rPr>
              <a:t>Data exposure &amp; Regulatory Impact</a:t>
            </a:r>
            <a:endParaRPr lang="en-US" sz="20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0" y="1931800"/>
            <a:ext cx="5074920" cy="64008"/>
          </a:xfrm>
          <a:prstGeom prst="rect">
            <a:avLst/>
          </a:prstGeom>
          <a:solidFill>
            <a:srgbClr val="D32F2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5184" y="2573912"/>
            <a:ext cx="4782312" cy="765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Client, cargo, financial and operational data could be stolen before encryption and remain exposed after systems are restored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50748" y="3739783"/>
            <a:ext cx="2757516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Severity judgement</a:t>
            </a:r>
            <a:endParaRPr lang="en-US" sz="20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8520" y="420764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</a:rPr>
              <a:t>Financial Loss</a:t>
            </a:r>
            <a:endParaRPr lang="en-US" sz="1400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8364" y="4489072"/>
            <a:ext cx="1431636" cy="420624"/>
          </a:xfrm>
          <a:prstGeom prst="rect">
            <a:avLst/>
          </a:prstGeom>
          <a:solidFill>
            <a:srgbClr val="FFF1F2"/>
          </a:solidFill>
          <a:ln>
            <a:solidFill>
              <a:srgbClr val="F2CA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Severe / Long-term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 16"/>
          <p:cNvSpPr/>
          <p:nvPr/>
        </p:nvSpPr>
        <p:spPr>
          <a:xfrm>
            <a:off x="2299184" y="4207640"/>
            <a:ext cx="1996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Operational Disruption</a:t>
            </a: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66440" y="420764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 / Regulatory</a:t>
            </a: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34256" y="420764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 Impact</a:t>
            </a: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46920" y="420764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Reputation</a:t>
            </a:r>
            <a:endParaRPr lang="en-US"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 23"/>
          <p:cNvSpPr/>
          <p:nvPr/>
        </p:nvSpPr>
        <p:spPr>
          <a:xfrm>
            <a:off x="9900920" y="4489072"/>
            <a:ext cx="1508760" cy="420624"/>
          </a:xfrm>
          <a:prstGeom prst="rect">
            <a:avLst/>
          </a:prstGeom>
          <a:solidFill>
            <a:srgbClr val="FFF7DE"/>
          </a:solidFill>
          <a:ln>
            <a:solidFill>
              <a:srgbClr val="F2E2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C58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Extensive / Mid-term</a:t>
            </a:r>
            <a:endParaRPr lang="en-US" sz="10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 24"/>
          <p:cNvSpPr/>
          <p:nvPr/>
        </p:nvSpPr>
        <p:spPr>
          <a:xfrm>
            <a:off x="4464632" y="5246014"/>
            <a:ext cx="3821084" cy="290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this means for </a:t>
            </a:r>
            <a:r>
              <a:rPr lang="en-US" b="1" dirty="0" err="1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OmniRoute</a:t>
            </a:r>
            <a:endParaRPr lang="en-US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567160" y="652068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80" dirty="0"/>
          </a:p>
        </p:txBody>
      </p:sp>
      <p:sp>
        <p:nvSpPr>
          <p:cNvPr id="32" name="Rounded Rectangle 31"/>
          <p:cNvSpPr/>
          <p:nvPr/>
        </p:nvSpPr>
        <p:spPr>
          <a:xfrm>
            <a:off x="10058400" y="435608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IMPACT</a:t>
            </a:r>
            <a:endParaRPr sz="10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 20"/>
          <p:cNvSpPr/>
          <p:nvPr/>
        </p:nvSpPr>
        <p:spPr>
          <a:xfrm>
            <a:off x="7985760" y="4207640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Loss / Exposure</a:t>
            </a:r>
          </a:p>
        </p:txBody>
      </p:sp>
      <p:sp>
        <p:nvSpPr>
          <p:cNvPr id="34" name="Text 15"/>
          <p:cNvSpPr/>
          <p:nvPr/>
        </p:nvSpPr>
        <p:spPr>
          <a:xfrm>
            <a:off x="2636684" y="4489072"/>
            <a:ext cx="1431636" cy="420624"/>
          </a:xfrm>
          <a:prstGeom prst="rect">
            <a:avLst/>
          </a:prstGeom>
          <a:solidFill>
            <a:srgbClr val="FFF1F2"/>
          </a:solidFill>
          <a:ln>
            <a:solidFill>
              <a:srgbClr val="F2CA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Severe / Long-term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Text 15"/>
          <p:cNvSpPr/>
          <p:nvPr/>
        </p:nvSpPr>
        <p:spPr>
          <a:xfrm>
            <a:off x="4475644" y="4489072"/>
            <a:ext cx="1431636" cy="420624"/>
          </a:xfrm>
          <a:prstGeom prst="rect">
            <a:avLst/>
          </a:prstGeom>
          <a:solidFill>
            <a:srgbClr val="FFF1F2"/>
          </a:solidFill>
          <a:ln>
            <a:solidFill>
              <a:srgbClr val="F2CA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Severe / Long-term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Text 15"/>
          <p:cNvSpPr/>
          <p:nvPr/>
        </p:nvSpPr>
        <p:spPr>
          <a:xfrm>
            <a:off x="6379020" y="4489072"/>
            <a:ext cx="1431636" cy="420624"/>
          </a:xfrm>
          <a:prstGeom prst="rect">
            <a:avLst/>
          </a:prstGeom>
          <a:solidFill>
            <a:srgbClr val="FFF1F2"/>
          </a:solidFill>
          <a:ln>
            <a:solidFill>
              <a:srgbClr val="F2CA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Severe / Long-term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Text 15"/>
          <p:cNvSpPr/>
          <p:nvPr/>
        </p:nvSpPr>
        <p:spPr>
          <a:xfrm>
            <a:off x="8200044" y="4489072"/>
            <a:ext cx="1431636" cy="420624"/>
          </a:xfrm>
          <a:prstGeom prst="rect">
            <a:avLst/>
          </a:prstGeom>
          <a:solidFill>
            <a:srgbClr val="FFF1F2"/>
          </a:solidFill>
          <a:ln>
            <a:solidFill>
              <a:srgbClr val="F2CAD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Severe / Long-term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638569" y="5626888"/>
            <a:ext cx="9088120" cy="786360"/>
          </a:xfrm>
          <a:prstGeom prst="roundRect">
            <a:avLst/>
          </a:prstGeom>
          <a:solidFill>
            <a:schemeClr val="accent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20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ransomware incident would affect operations, customers and regulatory obligations at the same time.</a:t>
            </a:r>
            <a:endParaRPr sz="20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</p:spTree>
    <p:extLst>
      <p:ext uri="{BB962C8B-B14F-4D97-AF65-F5344CB8AC3E}">
        <p14:creationId xmlns:p14="http://schemas.microsoft.com/office/powerpoint/2010/main" val="2207525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47472"/>
            <a:ext cx="58528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Recommended preparedness posture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" y="882396"/>
            <a:ext cx="12801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411480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PREPAREDNESS </a:t>
            </a:r>
            <a:endParaRPr sz="10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0" y="2582387"/>
            <a:ext cx="3752850" cy="1990939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Architectural
Resilience</a:t>
            </a:r>
            <a:endParaRPr lang="en-US" sz="24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sz="24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the environment so one compromise does not spread easily or block recovery.</a:t>
            </a:r>
            <a:endParaRPr sz="125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2283775"/>
            <a:ext cx="2788920" cy="1095732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Harden the edge</a:t>
            </a:r>
            <a:endParaRPr lang="en-US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Patch, MFA, Access Control</a:t>
            </a:r>
            <a:endParaRPr sz="14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85810" y="2283775"/>
            <a:ext cx="2788920" cy="1124438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lang="en-US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 Early</a:t>
            </a:r>
          </a:p>
          <a:p>
            <a:pPr algn="ctr"/>
            <a:endParaRPr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Identity, EDR, </a:t>
            </a:r>
            <a:r>
              <a:rPr lang="en-US" sz="1400" b="1" dirty="0" err="1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Sysmon</a:t>
            </a:r>
            <a:endParaRPr sz="14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83920" y="3998470"/>
            <a:ext cx="2788920" cy="1213878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lang="en-US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 Movement</a:t>
            </a:r>
          </a:p>
          <a:p>
            <a:pPr algn="ctr"/>
            <a:endParaRPr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Segmentation, Admin boundaries</a:t>
            </a:r>
            <a:endParaRPr sz="14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85810" y="4033522"/>
            <a:ext cx="2788920" cy="1202331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Recover </a:t>
            </a:r>
            <a:r>
              <a:rPr lang="en-US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Cleanly</a:t>
            </a:r>
          </a:p>
          <a:p>
            <a:pPr algn="ctr"/>
            <a:endParaRPr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Immutable Backups, Trusted Restores. </a:t>
            </a:r>
            <a:endParaRPr sz="14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1" y="5615944"/>
            <a:ext cx="10590502" cy="615766"/>
          </a:xfrm>
          <a:prstGeom prst="roundRect">
            <a:avLst/>
          </a:prstGeom>
          <a:solidFill>
            <a:schemeClr val="accent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Assume prevention can fail. Limit the spread, detect early and recover from trusted systems.</a:t>
            </a:r>
            <a:endParaRPr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1" y="1165786"/>
            <a:ext cx="98023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Architectural Resilience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gives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OmniRoute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best balance of prevention, containment, detection and recovery.</a:t>
            </a:r>
            <a:endParaRPr sz="2400" b="1" dirty="0">
              <a:solidFill>
                <a:srgbClr val="0F172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3691683" y="4503296"/>
            <a:ext cx="533400" cy="380999"/>
          </a:xfrm>
          <a:prstGeom prst="line">
            <a:avLst/>
          </a:prstGeom>
          <a:ln w="28575">
            <a:solidFill>
              <a:schemeClr val="tx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867650" y="2777452"/>
            <a:ext cx="518160" cy="401722"/>
          </a:xfrm>
          <a:prstGeom prst="line">
            <a:avLst/>
          </a:prstGeom>
          <a:ln w="28575">
            <a:solidFill>
              <a:schemeClr val="tx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867650" y="4303270"/>
            <a:ext cx="470535" cy="478284"/>
          </a:xfrm>
          <a:prstGeom prst="line">
            <a:avLst/>
          </a:prstGeom>
          <a:ln w="28575">
            <a:solidFill>
              <a:schemeClr val="tx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672840" y="2684831"/>
            <a:ext cx="426720" cy="424600"/>
          </a:xfrm>
          <a:prstGeom prst="line">
            <a:avLst/>
          </a:prstGeom>
          <a:ln w="28575">
            <a:solidFill>
              <a:schemeClr val="tx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 24"/>
          <p:cNvSpPr/>
          <p:nvPr/>
        </p:nvSpPr>
        <p:spPr>
          <a:xfrm>
            <a:off x="4074136" y="5115068"/>
            <a:ext cx="3821084" cy="300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Goal</a:t>
            </a:r>
            <a:endParaRPr lang="en-US" sz="24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47472"/>
            <a:ext cx="33265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Detection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2801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411480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98754"/>
            <a:ext cx="4087368" cy="3343656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l"/>
            <a:r>
              <a:rPr lang="en-US"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Suspicious Pattern</a:t>
            </a:r>
          </a:p>
          <a:p>
            <a:pPr algn="l"/>
            <a:endParaRPr sz="17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spcAft>
                <a:spcPts val="200"/>
              </a:spcAft>
            </a:pPr>
            <a:endParaRPr lang="en-US" sz="12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600" b="1" dirty="0" err="1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OriginalFileName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schtasks.exe</a:t>
            </a:r>
          </a:p>
          <a:p>
            <a:pPr>
              <a:spcAft>
                <a:spcPts val="200"/>
              </a:spcAft>
            </a:pP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name: </a:t>
            </a:r>
            <a:r>
              <a:rPr lang="en-US" sz="1600" dirty="0" err="1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WindowsUpdateService</a:t>
            </a:r>
            <a:endParaRPr lang="en-US"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Trigger: 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ONSTART</a:t>
            </a:r>
          </a:p>
          <a:p>
            <a:pPr>
              <a:spcAft>
                <a:spcPts val="200"/>
              </a:spcAft>
            </a:pP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Payload: 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C:\ProgramData\svchost.exe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Oval 8"/>
          <p:cNvSpPr/>
          <p:nvPr/>
        </p:nvSpPr>
        <p:spPr>
          <a:xfrm>
            <a:off x="5596128" y="1901601"/>
            <a:ext cx="475488" cy="475488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07873"/>
            <a:ext cx="5394960" cy="713232"/>
          </a:xfrm>
          <a:prstGeom prst="round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l"/>
            <a:r>
              <a:rPr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Observe</a:t>
            </a:r>
            <a:endParaRPr sz="14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spcAft>
                <a:spcPts val="200"/>
              </a:spcAft>
            </a:pPr>
            <a:r>
              <a:rPr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EID 1 process creation event</a:t>
            </a:r>
            <a:endParaRPr sz="113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val 10"/>
          <p:cNvSpPr/>
          <p:nvPr/>
        </p:nvSpPr>
        <p:spPr>
          <a:xfrm>
            <a:off x="5544313" y="2845158"/>
            <a:ext cx="475488" cy="475488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17277"/>
            <a:ext cx="5394960" cy="713232"/>
          </a:xfrm>
          <a:prstGeom prst="round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l"/>
            <a:r>
              <a:rPr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Triage</a:t>
            </a:r>
            <a:endParaRPr sz="14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 the task, command, parent process and user</a:t>
            </a:r>
            <a:endParaRPr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Oval 12"/>
          <p:cNvSpPr/>
          <p:nvPr/>
        </p:nvSpPr>
        <p:spPr>
          <a:xfrm>
            <a:off x="5596128" y="3775487"/>
            <a:ext cx="475488" cy="475488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9692"/>
            <a:ext cx="5394960" cy="713232"/>
          </a:xfrm>
          <a:prstGeom prst="round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l"/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Confirm</a:t>
            </a:r>
            <a:endParaRPr sz="14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EID 11 to confirm the task file was created</a:t>
            </a:r>
            <a:endParaRPr sz="12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Oval 14"/>
          <p:cNvSpPr/>
          <p:nvPr/>
        </p:nvSpPr>
        <p:spPr>
          <a:xfrm>
            <a:off x="5544313" y="4644514"/>
            <a:ext cx="475488" cy="475488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529178"/>
            <a:ext cx="5394960" cy="713232"/>
          </a:xfrm>
          <a:prstGeom prst="roundRect">
            <a:avLst/>
          </a:prstGeom>
          <a:noFill/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l"/>
            <a:r>
              <a:rPr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endParaRPr sz="14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Raise the alert, isolate the host and preserve evidence</a:t>
            </a:r>
            <a:endParaRPr sz="12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5849365"/>
            <a:ext cx="10515600" cy="444246"/>
          </a:xfrm>
          <a:prstGeom prst="roundRect">
            <a:avLst/>
          </a:prstGeom>
          <a:solidFill>
            <a:schemeClr val="accent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>
              <a:spcAft>
                <a:spcPts val="200"/>
              </a:spcAft>
            </a:pPr>
            <a:r>
              <a:rPr lang="en-US" sz="1600" b="1" dirty="0">
                <a:solidFill>
                  <a:schemeClr val="tx1"/>
                </a:solidFill>
              </a:rPr>
              <a:t>When EID 1, the task details and EID 11 all match, the activity becomes much more suspicious.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</a:defRPr>
            </a:pPr>
            <a:r>
              <a:t>8</a:t>
            </a: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594360" y="1135643"/>
            <a:ext cx="9948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Scheduled task persistence: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/>
              </a:rPr>
              <a:t>WindowsUpdateService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/>
              </a:rPr>
              <a:t>C:\ProgramData\svchost.exe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  <p:sp>
        <p:nvSpPr>
          <p:cNvPr id="21" name="Text 24"/>
          <p:cNvSpPr/>
          <p:nvPr/>
        </p:nvSpPr>
        <p:spPr>
          <a:xfrm>
            <a:off x="3685586" y="5431593"/>
            <a:ext cx="3821084" cy="300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gives us confidence</a:t>
            </a:r>
            <a:endParaRPr lang="en-US" sz="24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47472"/>
            <a:ext cx="58560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they are already inside: first 24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2801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411480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INCIDENT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</a:defRPr>
            </a:pPr>
            <a:r>
              <a:t>9</a:t>
            </a:r>
          </a:p>
        </p:txBody>
      </p:sp>
      <p:sp>
        <p:nvSpPr>
          <p:cNvPr id="30" name="Shape 6"/>
          <p:cNvSpPr/>
          <p:nvPr/>
        </p:nvSpPr>
        <p:spPr>
          <a:xfrm>
            <a:off x="2194560" y="3224072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1" name="Shape 7"/>
          <p:cNvSpPr/>
          <p:nvPr/>
        </p:nvSpPr>
        <p:spPr>
          <a:xfrm>
            <a:off x="1033272" y="1590187"/>
            <a:ext cx="841248" cy="78659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8"/>
          <p:cNvSpPr/>
          <p:nvPr/>
        </p:nvSpPr>
        <p:spPr>
          <a:xfrm>
            <a:off x="1325880" y="189661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 9"/>
          <p:cNvSpPr/>
          <p:nvPr/>
        </p:nvSpPr>
        <p:spPr>
          <a:xfrm>
            <a:off x="594360" y="2471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0–2h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Text 10"/>
          <p:cNvSpPr/>
          <p:nvPr/>
        </p:nvSpPr>
        <p:spPr>
          <a:xfrm>
            <a:off x="594360" y="30678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 edge</a:t>
            </a:r>
            <a:endParaRPr lang="en-US" sz="16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Text 11"/>
          <p:cNvSpPr/>
          <p:nvPr/>
        </p:nvSpPr>
        <p:spPr>
          <a:xfrm>
            <a:off x="457200" y="3669792"/>
            <a:ext cx="2011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Restrict Fortinet access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Preserve logs and configs</a:t>
            </a:r>
          </a:p>
        </p:txBody>
      </p:sp>
      <p:sp>
        <p:nvSpPr>
          <p:cNvPr id="39" name="Text 15"/>
          <p:cNvSpPr/>
          <p:nvPr/>
        </p:nvSpPr>
        <p:spPr>
          <a:xfrm>
            <a:off x="2862072" y="2471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2–6h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 16"/>
          <p:cNvSpPr/>
          <p:nvPr/>
        </p:nvSpPr>
        <p:spPr>
          <a:xfrm>
            <a:off x="2862072" y="30678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Cut off access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Text 17"/>
          <p:cNvSpPr/>
          <p:nvPr/>
        </p:nvSpPr>
        <p:spPr>
          <a:xfrm>
            <a:off x="2724912" y="3669792"/>
            <a:ext cx="2011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Revoke sessions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Rotate VPN/admin credentials</a:t>
            </a:r>
          </a:p>
        </p:txBody>
      </p:sp>
      <p:sp>
        <p:nvSpPr>
          <p:cNvPr id="45" name="Text 21"/>
          <p:cNvSpPr/>
          <p:nvPr/>
        </p:nvSpPr>
        <p:spPr>
          <a:xfrm>
            <a:off x="5129784" y="2471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6–12h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Text 22"/>
          <p:cNvSpPr/>
          <p:nvPr/>
        </p:nvSpPr>
        <p:spPr>
          <a:xfrm>
            <a:off x="5129784" y="30678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 recovery</a:t>
            </a:r>
            <a:endParaRPr lang="en-US" sz="16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Text 23"/>
          <p:cNvSpPr/>
          <p:nvPr/>
        </p:nvSpPr>
        <p:spPr>
          <a:xfrm>
            <a:off x="4992624" y="3669792"/>
            <a:ext cx="2011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Lock backup controls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 tier-0 identity</a:t>
            </a:r>
          </a:p>
        </p:txBody>
      </p:sp>
      <p:sp>
        <p:nvSpPr>
          <p:cNvPr id="51" name="Text 27"/>
          <p:cNvSpPr/>
          <p:nvPr/>
        </p:nvSpPr>
        <p:spPr>
          <a:xfrm>
            <a:off x="7397496" y="2471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12–18h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Text 28"/>
          <p:cNvSpPr/>
          <p:nvPr/>
        </p:nvSpPr>
        <p:spPr>
          <a:xfrm>
            <a:off x="7397496" y="3067812"/>
            <a:ext cx="197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Contain movement</a:t>
            </a: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Text 29"/>
          <p:cNvSpPr/>
          <p:nvPr/>
        </p:nvSpPr>
        <p:spPr>
          <a:xfrm>
            <a:off x="7260336" y="3669792"/>
            <a:ext cx="2011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Restrict RDP/WMI/WinRM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Isolate affected systems</a:t>
            </a:r>
          </a:p>
        </p:txBody>
      </p:sp>
      <p:sp>
        <p:nvSpPr>
          <p:cNvPr id="56" name="Text 32"/>
          <p:cNvSpPr/>
          <p:nvPr/>
        </p:nvSpPr>
        <p:spPr>
          <a:xfrm>
            <a:off x="9665208" y="2471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18–24h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" name="Text 33"/>
          <p:cNvSpPr/>
          <p:nvPr/>
        </p:nvSpPr>
        <p:spPr>
          <a:xfrm>
            <a:off x="9761318" y="30678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Hunt the chain</a:t>
            </a:r>
            <a:endParaRPr lang="en-US" sz="1600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8" name="Shape 35"/>
          <p:cNvSpPr/>
          <p:nvPr/>
        </p:nvSpPr>
        <p:spPr>
          <a:xfrm>
            <a:off x="1027240" y="5070548"/>
            <a:ext cx="10122408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rgbClr val="D7DDE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36"/>
          <p:cNvSpPr/>
          <p:nvPr/>
        </p:nvSpPr>
        <p:spPr>
          <a:xfrm>
            <a:off x="1212555" y="5392111"/>
            <a:ext cx="9806940" cy="200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Contain first. Do not restore until identity, management systems and backups are trusted.</a:t>
            </a:r>
          </a:p>
        </p:txBody>
      </p:sp>
      <p:sp>
        <p:nvSpPr>
          <p:cNvPr id="61" name="Shape 7"/>
          <p:cNvSpPr/>
          <p:nvPr/>
        </p:nvSpPr>
        <p:spPr>
          <a:xfrm>
            <a:off x="3290697" y="1590187"/>
            <a:ext cx="841248" cy="78659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2" name="Text 8"/>
          <p:cNvSpPr/>
          <p:nvPr/>
        </p:nvSpPr>
        <p:spPr>
          <a:xfrm>
            <a:off x="3583305" y="189661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3" name="Shape 7"/>
          <p:cNvSpPr/>
          <p:nvPr/>
        </p:nvSpPr>
        <p:spPr>
          <a:xfrm>
            <a:off x="5586222" y="1590187"/>
            <a:ext cx="841248" cy="78659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4" name="Text 8"/>
          <p:cNvSpPr/>
          <p:nvPr/>
        </p:nvSpPr>
        <p:spPr>
          <a:xfrm>
            <a:off x="5878830" y="189661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Shape 7"/>
          <p:cNvSpPr/>
          <p:nvPr/>
        </p:nvSpPr>
        <p:spPr>
          <a:xfrm>
            <a:off x="7824597" y="1599712"/>
            <a:ext cx="841248" cy="78659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6" name="Text 8"/>
          <p:cNvSpPr/>
          <p:nvPr/>
        </p:nvSpPr>
        <p:spPr>
          <a:xfrm>
            <a:off x="8117205" y="1906143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Shape 7"/>
          <p:cNvSpPr/>
          <p:nvPr/>
        </p:nvSpPr>
        <p:spPr>
          <a:xfrm>
            <a:off x="10091547" y="1599712"/>
            <a:ext cx="841248" cy="78659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8" name="Text 8"/>
          <p:cNvSpPr/>
          <p:nvPr/>
        </p:nvSpPr>
        <p:spPr>
          <a:xfrm>
            <a:off x="10384155" y="1906143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Text 34"/>
          <p:cNvSpPr/>
          <p:nvPr/>
        </p:nvSpPr>
        <p:spPr>
          <a:xfrm>
            <a:off x="9528048" y="3718559"/>
            <a:ext cx="2011680" cy="4530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Tasks, registry, GPO,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exfiltration and EDR health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  <p:sp>
        <p:nvSpPr>
          <p:cNvPr id="44" name="Shape 6"/>
          <p:cNvSpPr/>
          <p:nvPr/>
        </p:nvSpPr>
        <p:spPr>
          <a:xfrm>
            <a:off x="4490288" y="3220824"/>
            <a:ext cx="679326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  <a:tailEnd type="triangle"/>
          </a:ln>
        </p:spPr>
      </p:sp>
      <p:sp>
        <p:nvSpPr>
          <p:cNvPr id="49" name="Shape 6"/>
          <p:cNvSpPr/>
          <p:nvPr/>
        </p:nvSpPr>
        <p:spPr>
          <a:xfrm>
            <a:off x="6891079" y="3217576"/>
            <a:ext cx="521084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0" name="Shape 6"/>
          <p:cNvSpPr/>
          <p:nvPr/>
        </p:nvSpPr>
        <p:spPr>
          <a:xfrm flipV="1">
            <a:off x="9401709" y="3224040"/>
            <a:ext cx="473908" cy="32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47472"/>
            <a:ext cx="24192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Investment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2801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411480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INVESTMENT</a:t>
            </a:r>
            <a:endParaRPr sz="10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Oval 7"/>
          <p:cNvSpPr/>
          <p:nvPr/>
        </p:nvSpPr>
        <p:spPr>
          <a:xfrm>
            <a:off x="2141220" y="3366257"/>
            <a:ext cx="475488" cy="475488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6820" y="3823457"/>
            <a:ext cx="2423160" cy="1517487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0–</a:t>
            </a: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days</a:t>
            </a:r>
            <a:endParaRPr lang="en-US"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Close exposure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 visibility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58815" y="3366257"/>
            <a:ext cx="475488" cy="475488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4414" y="3823457"/>
            <a:ext cx="2423160" cy="151748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3-6</a:t>
            </a:r>
            <a:r>
              <a:rPr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months</a:t>
            </a:r>
          </a:p>
          <a:p>
            <a:pPr algn="ctr"/>
            <a:endParaRPr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 movement 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Strengthen recovery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Oval 13"/>
          <p:cNvSpPr/>
          <p:nvPr/>
        </p:nvSpPr>
        <p:spPr>
          <a:xfrm>
            <a:off x="9347834" y="3366257"/>
            <a:ext cx="475488" cy="475488"/>
          </a:xfrm>
          <a:prstGeom prst="ellipse">
            <a:avLst/>
          </a:prstGeom>
          <a:solidFill>
            <a:srgbClr val="D32F2F"/>
          </a:solidFill>
          <a:ln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3434" y="3823457"/>
            <a:ext cx="2423160" cy="1517487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01600"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6-12 </a:t>
            </a:r>
            <a:r>
              <a:rPr sz="16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months</a:t>
            </a:r>
            <a:endParaRPr lang="en-US"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sz="16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recovery</a:t>
            </a:r>
          </a:p>
          <a:p>
            <a:pPr>
              <a:spcAft>
                <a:spcPts val="400"/>
              </a:spcAft>
              <a:defRPr sz="1150">
                <a:solidFill>
                  <a:srgbClr val="1F2937"/>
                </a:solidFill>
              </a:defRPr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Validate resilience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1137032"/>
            <a:ext cx="946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Indicative ask: ~</a:t>
            </a:r>
            <a:r>
              <a:rPr lang="en-US" sz="2400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</a:t>
            </a:r>
            <a:r>
              <a:rPr lang="en-US" sz="2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3.2M</a:t>
            </a:r>
            <a:r>
              <a:rPr lang="en-US" sz="2400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 12 months to reduce immediate exposure and build resilience.</a:t>
            </a:r>
            <a:endParaRPr sz="2400" b="1" dirty="0">
              <a:solidFill>
                <a:srgbClr val="0F172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97080" y="2203901"/>
            <a:ext cx="3392805" cy="950976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 the Edge &amp; Identity: </a:t>
            </a:r>
            <a:r>
              <a:rPr lang="en-US" sz="1400" b="1" u="sng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$1.05M</a:t>
            </a:r>
            <a:endParaRPr sz="1400" b="1" u="sng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endParaRPr lang="en-US" sz="12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Fortinet hardening, MFA/PAM, credential security</a:t>
            </a:r>
            <a:endParaRPr sz="11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63441" y="2203901"/>
            <a:ext cx="3805159" cy="950976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 Visibility &amp; Containment:  </a:t>
            </a:r>
            <a:r>
              <a:rPr lang="en-US" sz="1400" b="1" u="sng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$1.3M</a:t>
            </a:r>
          </a:p>
          <a:p>
            <a:pPr algn="ctr"/>
            <a:endParaRPr sz="14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EDR/Sysmon, central logging, segmentation</a:t>
            </a:r>
          </a:p>
          <a:p>
            <a:pPr algn="ctr">
              <a:spcAft>
                <a:spcPts val="200"/>
              </a:spcAft>
            </a:pPr>
            <a:endParaRPr sz="11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11892" y="2203901"/>
            <a:ext cx="3510916" cy="950976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4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 Recovery &amp; Response: </a:t>
            </a:r>
            <a:r>
              <a:rPr lang="en-US" sz="1400" b="1" u="sng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$850K </a:t>
            </a:r>
            <a:endParaRPr sz="1400" b="1" u="sng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endParaRPr lang="en-US" sz="115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Immutable backups,  restore testing, DFIR readiness</a:t>
            </a:r>
            <a:endParaRPr sz="12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84045" y="5695793"/>
            <a:ext cx="9560212" cy="578543"/>
          </a:xfrm>
          <a:prstGeom prst="roundRect">
            <a:avLst/>
          </a:prstGeom>
          <a:solidFill>
            <a:schemeClr val="accent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2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funding must be phased, secure the edge and identity first.</a:t>
            </a:r>
            <a:endParaRPr sz="2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47472"/>
            <a:ext cx="394851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risks &amp;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assumptions</a:t>
            </a:r>
            <a:endParaRPr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280160" cy="6400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411480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VALIDATION</a:t>
            </a:r>
            <a:endParaRPr sz="10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1931669"/>
            <a:ext cx="3246120" cy="1373505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Fortinet Exposure</a:t>
            </a:r>
          </a:p>
          <a:p>
            <a:pPr algn="l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Versions, internet exposure, signs of earlier compromise</a:t>
            </a:r>
            <a:endParaRPr sz="14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26280" y="1931670"/>
            <a:ext cx="3246120" cy="1373504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Detection Coverage</a:t>
            </a:r>
          </a:p>
          <a:p>
            <a:pPr algn="l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EDR, </a:t>
            </a:r>
            <a:r>
              <a:rPr lang="en-US" sz="1600" dirty="0" err="1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Sysmon</a:t>
            </a: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logging across critical systems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0" y="1931670"/>
            <a:ext cx="3246120" cy="1373504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Privileged Access</a:t>
            </a:r>
          </a:p>
          <a:p>
            <a:pPr algn="l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MFA/PAM, admin separation and GPO monitoring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67323" y="5306160"/>
            <a:ext cx="9052560" cy="789565"/>
          </a:xfrm>
          <a:prstGeom prst="roundRect">
            <a:avLst/>
          </a:prstGeom>
          <a:solidFill>
            <a:schemeClr val="accent6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gaps should be closed in the first 30 days, with clear owners and deadlines for anything high risk.</a:t>
            </a:r>
            <a:endParaRPr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03969" y="6419088"/>
            <a:ext cx="293671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</a:defRPr>
            </a:pPr>
            <a:r>
              <a:rPr lang="en-US" dirty="0"/>
              <a:t>11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94360" y="1233297"/>
            <a:ext cx="718978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we still need to confirm in the first 30 days</a:t>
            </a:r>
            <a:endParaRPr sz="24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" y="3522344"/>
            <a:ext cx="3246120" cy="1373505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Backup Readiness</a:t>
            </a:r>
          </a:p>
          <a:p>
            <a:pPr algn="l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Immutability, restore testing and RTO/RPO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26280" y="3522345"/>
            <a:ext cx="3246120" cy="1373504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Location &amp; Ownership</a:t>
            </a:r>
          </a:p>
          <a:p>
            <a:pPr algn="l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Sensitive data, owners and jurisdictions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0" y="3522345"/>
            <a:ext cx="3246120" cy="1373504"/>
          </a:xfrm>
          <a:prstGeom prst="roundRect">
            <a:avLst/>
          </a:prstGeom>
          <a:noFill/>
          <a:ln w="285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ctr"/>
          <a:lstStyle/>
          <a:p>
            <a:pPr algn="ctr"/>
            <a:r>
              <a:rPr lang="en-US" sz="16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Incident Readiness</a:t>
            </a:r>
          </a:p>
          <a:p>
            <a:pPr algn="l"/>
            <a:endParaRPr sz="15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Aft>
                <a:spcPts val="200"/>
              </a:spcAft>
            </a:pPr>
            <a:r>
              <a:rPr lang="en-US" sz="1600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DFIR, regulator contacts and isolation authority</a:t>
            </a:r>
            <a:endParaRPr sz="1600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1273489" y="6400800"/>
            <a:ext cx="293671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B7280"/>
                </a:solidFill>
              </a:defRPr>
            </a:pPr>
            <a:r>
              <a:rPr lang="en-US" dirty="0"/>
              <a:t>12</a:t>
            </a:r>
            <a:endParaRPr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4878"/>
          <a:stretch/>
        </p:blipFill>
        <p:spPr>
          <a:xfrm>
            <a:off x="3726387" y="358585"/>
            <a:ext cx="4868974" cy="3657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89243" y="5367147"/>
            <a:ext cx="35541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Questions &amp; Discussion</a:t>
            </a:r>
            <a:endParaRPr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058400" y="411480"/>
            <a:ext cx="1554480" cy="347472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D32F2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CLOSING</a:t>
            </a:r>
            <a:endParaRPr sz="1000" b="1" dirty="0">
              <a:solidFill>
                <a:srgbClr val="D32F2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6419088"/>
            <a:ext cx="36583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B7280"/>
                </a:solidFill>
              </a:defRPr>
            </a:pPr>
            <a:r>
              <a:rPr dirty="0" err="1">
                <a:solidFill>
                  <a:schemeClr val="tx1">
                    <a:lumMod val="85000"/>
                  </a:schemeClr>
                </a:solidFill>
              </a:rPr>
              <a:t>OmniRoute</a:t>
            </a:r>
            <a:r>
              <a:rPr dirty="0">
                <a:solidFill>
                  <a:schemeClr val="tx1">
                    <a:lumMod val="85000"/>
                  </a:schemeClr>
                </a:solidFill>
              </a:rPr>
              <a:t> Logistics | The Gentlemen ransomware preparedness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1912" y="4133374"/>
            <a:ext cx="315983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</a:t>
            </a:r>
            <a:endParaRPr sz="4400" b="1" dirty="0">
              <a:solidFill>
                <a:schemeClr val="tx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9324</TotalTime>
  <Words>1229</Words>
  <Application>Microsoft Office PowerPoint</Application>
  <PresentationFormat>Widescreen</PresentationFormat>
  <Paragraphs>291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Arial Unicode MS</vt:lpstr>
      <vt:lpstr>Calibri</vt:lpstr>
      <vt:lpstr>Century Gothic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tatiana kizya</dc:creator>
  <cp:keywords/>
  <dc:description>generated using python-pptx</dc:description>
  <cp:lastModifiedBy>GASTLY .</cp:lastModifiedBy>
  <cp:revision>152</cp:revision>
  <dcterms:created xsi:type="dcterms:W3CDTF">2013-01-27T09:14:16Z</dcterms:created>
  <dcterms:modified xsi:type="dcterms:W3CDTF">2026-09-01T08:36:40Z</dcterms:modified>
  <cp:category/>
</cp:coreProperties>
</file>